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41" r:id="rId16"/>
    <p:sldId id="270" r:id="rId17"/>
    <p:sldId id="271" r:id="rId18"/>
    <p:sldId id="272" r:id="rId19"/>
    <p:sldId id="34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302" autoAdjust="0"/>
  </p:normalViewPr>
  <p:slideViewPr>
    <p:cSldViewPr snapToGrid="0" snapToObjects="1">
      <p:cViewPr varScale="1">
        <p:scale>
          <a:sx n="49" d="100"/>
          <a:sy n="49" d="100"/>
        </p:scale>
        <p:origin x="105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72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freshers. Explain that this is a beginner-friendly program. No prior cloud knowledge is expected. Over 2 days, they will understand, use, and confidently explain cloud computing with Azure.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course flow. Mention that Day 1 focuses on fundamentals, and Day 2 focuses on hands-on and real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cloud using simple words. Cloud means renting IT resources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companies earlier purchased servers and maintained data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wasted capacity and slow setup in traditional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cloud solves traditional IT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which cloud apps they use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characteristic with a real-life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that users can create resources themselves.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On-Demand Self-Service in Cloud Computing</a:t>
            </a:r>
            <a:r>
              <a:rPr lang="en-US" dirty="0"/>
              <a:t> means that users can provision and manage computing resources (like servers, storage, or applications) whenever they need them, without requiring human intervention from the service provider.</a:t>
            </a:r>
          </a:p>
          <a:p>
            <a:r>
              <a:rPr lang="en-US" dirty="0"/>
              <a:t>Real-World Scenario:</a:t>
            </a:r>
          </a:p>
          <a:p>
            <a:r>
              <a:rPr lang="en-US" dirty="0"/>
              <a:t>A startup hosting an e-commerce site can </a:t>
            </a:r>
            <a:r>
              <a:rPr lang="en-US" b="1" dirty="0"/>
              <a:t>scale servers automatically during a holiday sale</a:t>
            </a:r>
            <a:r>
              <a:rPr lang="en-US" dirty="0"/>
              <a:t>.</a:t>
            </a:r>
          </a:p>
          <a:p>
            <a:r>
              <a:rPr lang="en-US" dirty="0"/>
              <a:t>Developers can </a:t>
            </a:r>
            <a:r>
              <a:rPr lang="en-US" b="1" dirty="0"/>
              <a:t>spin up test environments</a:t>
            </a:r>
            <a:r>
              <a:rPr lang="en-US" dirty="0"/>
              <a:t> in minutes, run experiments, and shut them down when finished.</a:t>
            </a:r>
          </a:p>
          <a:p>
            <a:r>
              <a:rPr lang="en-US" dirty="0"/>
              <a:t>Businesses can </a:t>
            </a:r>
            <a:r>
              <a:rPr lang="en-US" b="1" dirty="0"/>
              <a:t>add cloud storage instantly</a:t>
            </a:r>
            <a:r>
              <a:rPr lang="en-US" dirty="0"/>
              <a:t> when their local storage runs out.</a:t>
            </a:r>
          </a:p>
          <a:p>
            <a:endParaRPr lang="en-US" dirty="0"/>
          </a:p>
          <a:p>
            <a:r>
              <a:rPr lang="en-US" dirty="0"/>
              <a:t>Demo:</a:t>
            </a:r>
          </a:p>
          <a:p>
            <a:r>
              <a:rPr lang="en-IN" dirty="0"/>
              <a:t>Here's a realistic, annotated walkthrough of provisioning a virtual machine using Azure's on-demand self-service interface.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 1: Log in to Azure Portal</a:t>
            </a:r>
          </a:p>
          <a:p>
            <a:r>
              <a:rPr lang="en-IN" b="1" dirty="0"/>
              <a:t>URL</a:t>
            </a:r>
            <a:r>
              <a:rPr lang="en-IN" dirty="0"/>
              <a:t>: </a:t>
            </a:r>
            <a:r>
              <a:rPr lang="en-IN" dirty="0">
                <a:hlinkClick r:id="rId3"/>
              </a:rPr>
              <a:t>https://portal.azure.com</a:t>
            </a:r>
            <a:endParaRPr lang="en-IN" dirty="0"/>
          </a:p>
          <a:p>
            <a:r>
              <a:rPr lang="en-IN" b="1" dirty="0"/>
              <a:t>Interface</a:t>
            </a:r>
            <a:r>
              <a:rPr lang="en-IN" dirty="0"/>
              <a:t>: Dark-themed dashboard with navigation pane on the left.</a:t>
            </a:r>
          </a:p>
          <a:p>
            <a:r>
              <a:rPr lang="en-IN" b="1" dirty="0"/>
              <a:t>Key Panels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Azure Services</a:t>
            </a:r>
          </a:p>
          <a:p>
            <a:pPr lvl="1"/>
            <a:r>
              <a:rPr lang="en-IN" dirty="0" err="1"/>
              <a:t>Quickstart</a:t>
            </a:r>
            <a:r>
              <a:rPr lang="en-IN" dirty="0"/>
              <a:t> </a:t>
            </a:r>
            <a:r>
              <a:rPr lang="en-IN" dirty="0" err="1"/>
              <a:t>Center</a:t>
            </a:r>
            <a:endParaRPr lang="en-IN" dirty="0"/>
          </a:p>
          <a:p>
            <a:pPr lvl="1"/>
            <a:r>
              <a:rPr lang="en-IN" dirty="0"/>
              <a:t>Cost Management</a:t>
            </a:r>
          </a:p>
          <a:p>
            <a:pPr lvl="1"/>
            <a:r>
              <a:rPr lang="en-IN" dirty="0"/>
              <a:t>Resource Groups</a:t>
            </a:r>
          </a:p>
          <a:p>
            <a:r>
              <a:rPr lang="en-IN" b="1" dirty="0"/>
              <a:t>Step 2: Create a Resource</a:t>
            </a:r>
          </a:p>
          <a:p>
            <a:r>
              <a:rPr lang="en-IN" b="1" dirty="0"/>
              <a:t>Navigation</a:t>
            </a:r>
            <a:r>
              <a:rPr lang="en-IN" dirty="0"/>
              <a:t>: Click on "Create a resource" from the left menu or dashboard.</a:t>
            </a:r>
          </a:p>
          <a:p>
            <a:r>
              <a:rPr lang="en-IN" b="1" dirty="0"/>
              <a:t>Marketplace Panel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Popular options: Windows Server, Ubuntu Server, SQL Database, Web App</a:t>
            </a:r>
          </a:p>
          <a:p>
            <a:pPr lvl="1"/>
            <a:r>
              <a:rPr lang="en-IN" dirty="0"/>
              <a:t>Search bar to find specific services</a:t>
            </a:r>
          </a:p>
          <a:p>
            <a:pPr lvl="1"/>
            <a:r>
              <a:rPr lang="en-IN" dirty="0"/>
              <a:t>Select "Virtual Machine"</a:t>
            </a:r>
          </a:p>
          <a:p>
            <a:r>
              <a:rPr lang="en-IN" b="1" dirty="0"/>
              <a:t>Step 3: Configure Virtual Machine</a:t>
            </a:r>
          </a:p>
          <a:p>
            <a:r>
              <a:rPr lang="en-IN" b="1" dirty="0"/>
              <a:t>Basics Tab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Subscription</a:t>
            </a:r>
            <a:r>
              <a:rPr lang="en-IN" dirty="0"/>
              <a:t>: Choose your billing subscription</a:t>
            </a:r>
          </a:p>
          <a:p>
            <a:pPr lvl="1"/>
            <a:r>
              <a:rPr lang="en-IN" b="1" dirty="0"/>
              <a:t>Resource Group</a:t>
            </a:r>
            <a:r>
              <a:rPr lang="en-IN" dirty="0"/>
              <a:t>: Select existing or create new</a:t>
            </a:r>
          </a:p>
          <a:p>
            <a:pPr lvl="1"/>
            <a:r>
              <a:rPr lang="en-IN" b="1" dirty="0"/>
              <a:t>VM Name</a:t>
            </a:r>
            <a:r>
              <a:rPr lang="en-IN" dirty="0"/>
              <a:t>: Enter a unique name</a:t>
            </a:r>
          </a:p>
          <a:p>
            <a:pPr lvl="1"/>
            <a:r>
              <a:rPr lang="en-IN" b="1" dirty="0"/>
              <a:t>Region</a:t>
            </a:r>
            <a:r>
              <a:rPr lang="en-IN" dirty="0"/>
              <a:t>: Choose closest or preferred data </a:t>
            </a:r>
            <a:r>
              <a:rPr lang="en-IN" dirty="0" err="1"/>
              <a:t>center</a:t>
            </a:r>
            <a:endParaRPr lang="en-IN" dirty="0"/>
          </a:p>
          <a:p>
            <a:pPr lvl="1"/>
            <a:r>
              <a:rPr lang="en-IN" b="1" dirty="0"/>
              <a:t>Image</a:t>
            </a:r>
            <a:r>
              <a:rPr lang="en-IN" dirty="0"/>
              <a:t>: Select OS (e.g., Ubuntu 20.04 LTS, Windows Server)</a:t>
            </a:r>
          </a:p>
          <a:p>
            <a:pPr lvl="1"/>
            <a:r>
              <a:rPr lang="en-IN" b="1" dirty="0"/>
              <a:t>Size</a:t>
            </a:r>
            <a:r>
              <a:rPr lang="en-IN" dirty="0"/>
              <a:t>: Choose based on CPU/RAM needs</a:t>
            </a:r>
          </a:p>
          <a:p>
            <a:pPr lvl="1"/>
            <a:r>
              <a:rPr lang="en-IN" b="1" dirty="0"/>
              <a:t>Authentication</a:t>
            </a:r>
            <a:r>
              <a:rPr lang="en-IN" dirty="0"/>
              <a:t>: Password or SSH public key</a:t>
            </a:r>
          </a:p>
          <a:p>
            <a:pPr lvl="1"/>
            <a:r>
              <a:rPr lang="en-IN" b="1" dirty="0"/>
              <a:t>Inbound Ports</a:t>
            </a:r>
            <a:r>
              <a:rPr lang="en-IN" dirty="0"/>
              <a:t>: Allow RDP (Windows) or SSH (Linux)</a:t>
            </a:r>
          </a:p>
          <a:p>
            <a:r>
              <a:rPr lang="en-IN" b="1" dirty="0"/>
              <a:t>Disks Tab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Choose OS disk type (Standard HDD, SSD)</a:t>
            </a:r>
          </a:p>
          <a:p>
            <a:pPr lvl="1"/>
            <a:r>
              <a:rPr lang="en-IN" dirty="0"/>
              <a:t>Add data disks if needed</a:t>
            </a:r>
          </a:p>
          <a:p>
            <a:r>
              <a:rPr lang="en-IN" b="1" dirty="0"/>
              <a:t>Networking Tab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Configure virtual network, subnet, public IP</a:t>
            </a:r>
          </a:p>
          <a:p>
            <a:pPr lvl="1"/>
            <a:r>
              <a:rPr lang="en-IN" dirty="0"/>
              <a:t>Set network security group (NSG) rules</a:t>
            </a:r>
          </a:p>
          <a:p>
            <a:r>
              <a:rPr lang="en-IN" b="1" dirty="0"/>
              <a:t>Step 4: Review + Create</a:t>
            </a:r>
          </a:p>
          <a:p>
            <a:r>
              <a:rPr lang="en-IN" b="1" dirty="0"/>
              <a:t>Validation</a:t>
            </a:r>
            <a:r>
              <a:rPr lang="en-IN" dirty="0"/>
              <a:t>: Azure checks configuration</a:t>
            </a:r>
          </a:p>
          <a:p>
            <a:r>
              <a:rPr lang="en-IN" b="1" dirty="0"/>
              <a:t>Summary Panel</a:t>
            </a:r>
            <a:r>
              <a:rPr lang="en-IN" dirty="0"/>
              <a:t>: Review all settings</a:t>
            </a:r>
          </a:p>
          <a:p>
            <a:r>
              <a:rPr lang="en-IN" b="1" dirty="0"/>
              <a:t>Click "Create"</a:t>
            </a:r>
            <a:r>
              <a:rPr lang="en-IN" dirty="0"/>
              <a:t> to deploy VM</a:t>
            </a:r>
          </a:p>
          <a:p>
            <a:r>
              <a:rPr lang="en-IN" b="1" dirty="0"/>
              <a:t>Step 5: Monitor Deployment</a:t>
            </a:r>
          </a:p>
          <a:p>
            <a:r>
              <a:rPr lang="en-IN" b="1" dirty="0"/>
              <a:t>Notifications</a:t>
            </a:r>
            <a:r>
              <a:rPr lang="en-IN" dirty="0"/>
              <a:t>: Track progress in top-right bell icon</a:t>
            </a:r>
          </a:p>
          <a:p>
            <a:r>
              <a:rPr lang="en-IN" b="1" dirty="0"/>
              <a:t>Resource Panel</a:t>
            </a:r>
            <a:r>
              <a:rPr lang="en-IN" dirty="0"/>
              <a:t>: VM appears under "Virtual Machines"</a:t>
            </a:r>
          </a:p>
          <a:p>
            <a:r>
              <a:rPr lang="en-IN" b="1" dirty="0"/>
              <a:t>Actions Available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Start/Stop/Restart</a:t>
            </a:r>
          </a:p>
          <a:p>
            <a:pPr lvl="1"/>
            <a:r>
              <a:rPr lang="en-IN" dirty="0"/>
              <a:t>Resize VM</a:t>
            </a:r>
          </a:p>
          <a:p>
            <a:pPr lvl="1"/>
            <a:r>
              <a:rPr lang="en-IN" dirty="0"/>
              <a:t>Connect via SSH/RDP</a:t>
            </a:r>
          </a:p>
          <a:p>
            <a:pPr lvl="1"/>
            <a:r>
              <a:rPr lang="en-IN" dirty="0"/>
              <a:t>View metrics and logs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guide mirrors the actual Azure interface and is ideal for training, documentation, or onboarding new users to cloud provisioning.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traffic increase example like online shopping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cloud billing with electricity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why companies move to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deployment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Azure as public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banks use private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hybrid as most common enterprise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regulatory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Azure and Microsoft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Azure data centers across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region with India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fault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hierarchy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subscription as billing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grouping of related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actual usable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portal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service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virtualization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resource sharing.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VM like laptop inside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hypervisor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Hyper-V.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VirtualBox.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Azure uses Type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SaaS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students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old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drawbacks.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recap and prepare for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focus on hands-on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IaaS gives full server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responsibility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Azure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VM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live demo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Ensure everyone logged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RG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NSG.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Wait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Celebrate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PaaS focus 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managed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Verify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Confidence 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interview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8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8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0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3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0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7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032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49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8911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53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42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2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8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Cloud Computing – 2 Day Fresher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Phaniraj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Cloud Computing</a:t>
            </a:r>
          </a:p>
          <a:p>
            <a:r>
              <a:t>• Azure Basics</a:t>
            </a:r>
          </a:p>
          <a:p>
            <a:r>
              <a:t>• SaaS Model</a:t>
            </a:r>
          </a:p>
          <a:p>
            <a:r>
              <a:t>• Virtualization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On-demand IT resources</a:t>
            </a:r>
          </a:p>
          <a:p>
            <a:r>
              <a:t>• Delivered via Internet</a:t>
            </a:r>
          </a:p>
          <a:p>
            <a:r>
              <a:t>• Pay-as-you-go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  <a:p>
            <a:r>
              <a:t>(Browser)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VM /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Buy servers</a:t>
            </a:r>
          </a:p>
          <a:p>
            <a:r>
              <a:t>• Install OS</a:t>
            </a:r>
          </a:p>
          <a:p>
            <a:r>
              <a:t>• Fixed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Traditional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cost</a:t>
            </a:r>
          </a:p>
          <a:p>
            <a:r>
              <a:t>• Maintenance</a:t>
            </a:r>
          </a:p>
          <a:p>
            <a:r>
              <a:t>• Underutilization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Rent instead of buy</a:t>
            </a:r>
          </a:p>
          <a:p>
            <a:r>
              <a:t>• Scale anytime</a:t>
            </a:r>
          </a:p>
          <a:p>
            <a:r>
              <a:t>• Faster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Real-Life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Gmail</a:t>
            </a:r>
          </a:p>
          <a:p>
            <a:r>
              <a:t>• Google Drive</a:t>
            </a:r>
          </a:p>
          <a:p>
            <a:r>
              <a:t>• Netflix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On-demand</a:t>
            </a:r>
          </a:p>
          <a:p>
            <a:r>
              <a:t>• Elastic</a:t>
            </a:r>
          </a:p>
          <a:p>
            <a:r>
              <a:t>• Measured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On-Demand Self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VM anytime</a:t>
            </a:r>
          </a:p>
          <a:p>
            <a:r>
              <a:t>• No provider interaction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Scale up</a:t>
            </a:r>
          </a:p>
          <a:p>
            <a:r>
              <a:t>• Scale 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 only for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Cost saving</a:t>
            </a:r>
          </a:p>
          <a:p>
            <a:r>
              <a:t>• Speed</a:t>
            </a:r>
          </a:p>
          <a:p>
            <a:r>
              <a:t>• Global reach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Public</a:t>
            </a:r>
          </a:p>
          <a:p>
            <a:r>
              <a:t>• Private</a:t>
            </a:r>
          </a:p>
          <a:p>
            <a:r>
              <a:t>• Hybrid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Shared infra</a:t>
            </a:r>
          </a:p>
          <a:p>
            <a:r>
              <a:rPr lang="en-IN" dirty="0"/>
              <a:t>• Azure example</a:t>
            </a:r>
          </a:p>
          <a:p>
            <a:pPr lvl="1"/>
            <a:r>
              <a:rPr lang="en-US" dirty="0"/>
              <a:t>Computing resources owned and operated by a third-party provider, delivered over the internet to multiple customers.</a:t>
            </a:r>
          </a:p>
          <a:p>
            <a:pPr lvl="1"/>
            <a:r>
              <a:rPr lang="en-US" dirty="0"/>
              <a:t>Shared infrastructure, accessible to anyone who subscribes or pays.</a:t>
            </a:r>
          </a:p>
          <a:p>
            <a:r>
              <a:rPr lang="en-US" dirty="0"/>
              <a:t>Examples: Microsoft Azure, Amazon Web Services (AWS), Google Cloud Platform (GCP).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13BA-0DBB-B182-9E99-2861D8EA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Microsoft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66D6-3520-2B6B-E6F9-071C5C6FC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Virtual Machines (VMs)</a:t>
            </a:r>
          </a:p>
          <a:p>
            <a:r>
              <a:rPr lang="en-IN" dirty="0"/>
              <a:t>Azure Storage (Blob, File, Queue, Table)</a:t>
            </a:r>
          </a:p>
          <a:p>
            <a:r>
              <a:rPr lang="en-IN" dirty="0"/>
              <a:t>Azure SQL Database</a:t>
            </a:r>
          </a:p>
          <a:p>
            <a:r>
              <a:rPr lang="en-IN" dirty="0"/>
              <a:t>Networking (Virtual Network, Load Balancer)</a:t>
            </a:r>
          </a:p>
          <a:p>
            <a:r>
              <a:rPr lang="en-IN" dirty="0"/>
              <a:t>Azure is widely used for hosting apps, databases, and enterprise solutions.</a:t>
            </a:r>
          </a:p>
        </p:txBody>
      </p:sp>
    </p:spTree>
    <p:extLst>
      <p:ext uri="{BB962C8B-B14F-4D97-AF65-F5344CB8AC3E}">
        <p14:creationId xmlns:p14="http://schemas.microsoft.com/office/powerpoint/2010/main" val="111140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Dedicated infra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On-prem + Azure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Hybrid is Popular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Security</a:t>
            </a:r>
          </a:p>
          <a:p>
            <a:r>
              <a:t>• Compliance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8461-DD19-C942-36CC-82CA7E074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</a:t>
            </a:r>
            <a:endParaRPr lang="en-IN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78D2AB7E-414E-75FA-7312-D254DEAEC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07" y="1417638"/>
            <a:ext cx="8712924" cy="47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81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Microsoft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 cloud platform</a:t>
            </a:r>
          </a:p>
          <a:p>
            <a:r>
              <a:t>• Global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Regions</a:t>
            </a:r>
          </a:p>
          <a:p>
            <a:r>
              <a:t>• Availability Zones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Geographical area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DCs</a:t>
            </a:r>
          </a:p>
          <a:p>
            <a:r>
              <a:t>• High availability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Account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Subscription</a:t>
            </a:r>
          </a:p>
          <a:p>
            <a:r>
              <a:t>• Resource Group</a:t>
            </a:r>
          </a:p>
          <a:p>
            <a:r>
              <a:t>• Resource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Subscription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Billing boundary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Logical container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VM</a:t>
            </a:r>
          </a:p>
          <a:p>
            <a:r>
              <a:t>• Storage</a:t>
            </a:r>
          </a:p>
          <a:p>
            <a:r>
              <a:t>• DB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 console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Service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</a:t>
            </a:r>
          </a:p>
          <a:p>
            <a:r>
              <a:t>• Storage</a:t>
            </a:r>
          </a:p>
          <a:p>
            <a:r>
              <a:t>• Network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Virtualization?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OS on one server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Better utilization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computer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VM manager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1 Hypervisor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Bare metal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Hypervisor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Hosted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Hypervisor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Hyper-V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+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exists because of virtualization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via browser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Subscription</a:t>
            </a:r>
          </a:p>
          <a:p>
            <a:r>
              <a:t>• No install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Gmail</a:t>
            </a:r>
          </a:p>
          <a:p>
            <a:r>
              <a:t>• Microsoft 365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locally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Ownership vs subscription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maintenance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Less control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basics</a:t>
            </a:r>
          </a:p>
          <a:p>
            <a:r>
              <a:t>• Azure</a:t>
            </a:r>
          </a:p>
          <a:p>
            <a:r>
              <a:t>• SaaS</a:t>
            </a:r>
          </a:p>
          <a:p>
            <a:r>
              <a:t>• Virtualization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IaaS</a:t>
            </a:r>
          </a:p>
          <a:p>
            <a:r>
              <a:t>• PaaS</a:t>
            </a:r>
          </a:p>
          <a:p>
            <a:r>
              <a:t>• Labs</a:t>
            </a:r>
          </a:p>
          <a:p>
            <a:r>
              <a:t>• Monitoring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Infrastructure as a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VM</a:t>
            </a:r>
          </a:p>
          <a:p>
            <a:r>
              <a:t>(OS + App)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Hardware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IaaS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manages OS &amp; apps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Core IaaS service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</a:t>
            </a:r>
          </a:p>
          <a:p>
            <a:r>
              <a:t>• RAM</a:t>
            </a:r>
          </a:p>
          <a:p>
            <a:r>
              <a:t>• Disk</a:t>
            </a:r>
          </a:p>
          <a:p>
            <a:r>
              <a:t>• Network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IaaS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 OS</a:t>
            </a:r>
          </a:p>
          <a:p>
            <a:r>
              <a:t>• Full control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1 – VM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Azure Portal guided steps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–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to portal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– Resource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RG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– Create 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 VM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– OS &amp;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Choose OS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–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port 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–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VM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VM running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Platform as a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App Service</a:t>
            </a:r>
          </a:p>
          <a:p>
            <a:r>
              <a:t>(Code)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84048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Managed OS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server management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App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PaaS offering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PaaS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→ App → DB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PaaS vs IaaS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Less control</a:t>
            </a:r>
          </a:p>
          <a:p>
            <a:r>
              <a:t>• Faster dev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2 – App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Deploy sample app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– Create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 Service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–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app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–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Public URL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 running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Why monitor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Metrics &amp; logs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CPU</a:t>
            </a:r>
          </a:p>
          <a:p>
            <a:r>
              <a:t>• Memory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3 –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View metrics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 –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alert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Pricing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Pay-as-you-go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Pricing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Reserved</a:t>
            </a:r>
          </a:p>
          <a:p>
            <a:r>
              <a:t>• Spot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Stop unused VMs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vs PaaS vs IaaS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Comparison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Who manages what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Corporate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 migration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Security</a:t>
            </a:r>
          </a:p>
          <a:p>
            <a:r>
              <a:t>• Cost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Monitoring</a:t>
            </a:r>
          </a:p>
          <a:p>
            <a:r>
              <a:t>• RBAC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Engineer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AZ-900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IaaS</a:t>
            </a:r>
          </a:p>
          <a:p>
            <a:r>
              <a:t>• PaaS</a:t>
            </a:r>
          </a:p>
          <a:p>
            <a:r>
              <a:t>• Labs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Fundamentals mastered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1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1617</Words>
  <Application>Microsoft Office PowerPoint</Application>
  <PresentationFormat>On-screen Show (4:3)</PresentationFormat>
  <Paragraphs>381</Paragraphs>
  <Slides>87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Arial</vt:lpstr>
      <vt:lpstr>Trebuchet MS</vt:lpstr>
      <vt:lpstr>Wingdings 3</vt:lpstr>
      <vt:lpstr>Facet</vt:lpstr>
      <vt:lpstr>Azure Cloud Computing – 2 Day Fresher Program</vt:lpstr>
      <vt:lpstr>Course Overview</vt:lpstr>
      <vt:lpstr>What is Cloud Computing?</vt:lpstr>
      <vt:lpstr>Traditional IT Model</vt:lpstr>
      <vt:lpstr>Problems with Traditional IT</vt:lpstr>
      <vt:lpstr>Cloud Solution</vt:lpstr>
      <vt:lpstr>Cloud Real-Life Examples</vt:lpstr>
      <vt:lpstr>Cloud Characteristics</vt:lpstr>
      <vt:lpstr>On-Demand Self Service</vt:lpstr>
      <vt:lpstr>Elasticity</vt:lpstr>
      <vt:lpstr>Measured Service</vt:lpstr>
      <vt:lpstr>Benefits of Cloud</vt:lpstr>
      <vt:lpstr>Cloud Deployment Models</vt:lpstr>
      <vt:lpstr>Public Cloud</vt:lpstr>
      <vt:lpstr>Microsoft Azure</vt:lpstr>
      <vt:lpstr>Private Cloud</vt:lpstr>
      <vt:lpstr>Hybrid Cloud</vt:lpstr>
      <vt:lpstr>Why Hybrid is Popular</vt:lpstr>
      <vt:lpstr>Comparisons</vt:lpstr>
      <vt:lpstr>Introduction to Microsoft Azure</vt:lpstr>
      <vt:lpstr>Azure Global Infrastructure</vt:lpstr>
      <vt:lpstr>Azure Region</vt:lpstr>
      <vt:lpstr>Availability Zones</vt:lpstr>
      <vt:lpstr>Azure Account Structure</vt:lpstr>
      <vt:lpstr>Azure Subscription</vt:lpstr>
      <vt:lpstr>Resource Group</vt:lpstr>
      <vt:lpstr>Azure Resources</vt:lpstr>
      <vt:lpstr>Azure Portal</vt:lpstr>
      <vt:lpstr>Azure Service Categories</vt:lpstr>
      <vt:lpstr>What is Virtualization?</vt:lpstr>
      <vt:lpstr>Why Virtualization</vt:lpstr>
      <vt:lpstr>Virtual Machine</vt:lpstr>
      <vt:lpstr>Hypervisor</vt:lpstr>
      <vt:lpstr>Type 1 Hypervisor</vt:lpstr>
      <vt:lpstr>Type 2 Hypervisor</vt:lpstr>
      <vt:lpstr>Azure Hypervisor</vt:lpstr>
      <vt:lpstr>Virtualization + Cloud</vt:lpstr>
      <vt:lpstr>Introduction to SaaS</vt:lpstr>
      <vt:lpstr>SaaS Characteristics</vt:lpstr>
      <vt:lpstr>SaaS Examples</vt:lpstr>
      <vt:lpstr>Traditional Software</vt:lpstr>
      <vt:lpstr>Traditional vs SaaS</vt:lpstr>
      <vt:lpstr>SaaS Advantages</vt:lpstr>
      <vt:lpstr>SaaS Limitations</vt:lpstr>
      <vt:lpstr>Day 1 Summary</vt:lpstr>
      <vt:lpstr>Day 2 Agenda</vt:lpstr>
      <vt:lpstr>Introduction to IaaS</vt:lpstr>
      <vt:lpstr>IaaS Responsibility</vt:lpstr>
      <vt:lpstr>Azure Virtual Machines</vt:lpstr>
      <vt:lpstr>VM Components</vt:lpstr>
      <vt:lpstr>When to Use IaaS</vt:lpstr>
      <vt:lpstr>Hands-on Lab 1 – VM Creation</vt:lpstr>
      <vt:lpstr>Lab 1 – Login</vt:lpstr>
      <vt:lpstr>Lab 1 – Resource Group</vt:lpstr>
      <vt:lpstr>Lab 1 – Create VM</vt:lpstr>
      <vt:lpstr>Lab 1 – OS &amp; Size</vt:lpstr>
      <vt:lpstr>Lab 1 – Networking</vt:lpstr>
      <vt:lpstr>Lab 1 – Review</vt:lpstr>
      <vt:lpstr>Lab 1 Outcome</vt:lpstr>
      <vt:lpstr>Introduction to PaaS</vt:lpstr>
      <vt:lpstr>Why PaaS</vt:lpstr>
      <vt:lpstr>Azure App Service</vt:lpstr>
      <vt:lpstr>PaaS Architecture</vt:lpstr>
      <vt:lpstr>PaaS vs IaaS</vt:lpstr>
      <vt:lpstr>Hands-on Lab 2 – App Service</vt:lpstr>
      <vt:lpstr>Lab 2 – Create App</vt:lpstr>
      <vt:lpstr>Lab 2 – Deploy</vt:lpstr>
      <vt:lpstr>Lab 2 – Test</vt:lpstr>
      <vt:lpstr>Lab 2 Outcome</vt:lpstr>
      <vt:lpstr>Monitoring Basics</vt:lpstr>
      <vt:lpstr>Azure Monitor</vt:lpstr>
      <vt:lpstr>Metrics</vt:lpstr>
      <vt:lpstr>Hands-on Lab 3 – Monitoring</vt:lpstr>
      <vt:lpstr>Lab 3 – Alerts</vt:lpstr>
      <vt:lpstr>Cloud Pricing Basics</vt:lpstr>
      <vt:lpstr>Azure Pricing Models</vt:lpstr>
      <vt:lpstr>Cost Optimization</vt:lpstr>
      <vt:lpstr>SaaS vs PaaS vs IaaS</vt:lpstr>
      <vt:lpstr>Responsibility Matrix</vt:lpstr>
      <vt:lpstr>Corporate Case Study</vt:lpstr>
      <vt:lpstr>Cloud Challenges</vt:lpstr>
      <vt:lpstr>Best Practices</vt:lpstr>
      <vt:lpstr>Career Paths</vt:lpstr>
      <vt:lpstr>Certification</vt:lpstr>
      <vt:lpstr>Day 2 Summary</vt:lpstr>
      <vt:lpstr>Course Conclusion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Phani Raj</dc:creator>
  <cp:keywords/>
  <dc:description>generated using python-pptx</dc:description>
  <cp:lastModifiedBy>Phani Raj</cp:lastModifiedBy>
  <cp:revision>4</cp:revision>
  <dcterms:created xsi:type="dcterms:W3CDTF">2013-01-27T09:14:16Z</dcterms:created>
  <dcterms:modified xsi:type="dcterms:W3CDTF">2025-12-15T15:26:12Z</dcterms:modified>
  <cp:category/>
</cp:coreProperties>
</file>